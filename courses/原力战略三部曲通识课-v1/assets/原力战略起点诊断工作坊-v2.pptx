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8b81164c09434e" /><Relationship Type="http://schemas.openxmlformats.org/officeDocument/2006/relationships/extended-properties" Target="/docProps/app.xml" Id="R07fdece377644ebd" /><Relationship Type="http://schemas.openxmlformats.org/officeDocument/2006/relationships/officeDocument" Target="/ppt/presentation.xml" Id="R23b97660833f4b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79852973284fee"/>
  </p:sldMasterIdLst>
  <p:notesMasterIdLst>
    <p:notesMasterId xmlns:r="http://schemas.openxmlformats.org/officeDocument/2006/relationships" r:id="R476fb160b6b74f5b"/>
  </p:notesMasterIdLst>
  <p:sldIdLst>
    <p:sldId xmlns:r="http://schemas.openxmlformats.org/officeDocument/2006/relationships" id="256" r:id="Rd7bb2f8fdebf4fa2"/>
    <p:sldId xmlns:r="http://schemas.openxmlformats.org/officeDocument/2006/relationships" id="257" r:id="R05daea6587e14b76"/>
    <p:sldId xmlns:r="http://schemas.openxmlformats.org/officeDocument/2006/relationships" id="258" r:id="R894d8470b7d247e8"/>
    <p:sldId xmlns:r="http://schemas.openxmlformats.org/officeDocument/2006/relationships" id="259" r:id="R6a00705050834807"/>
    <p:sldId xmlns:r="http://schemas.openxmlformats.org/officeDocument/2006/relationships" id="260" r:id="Rf7fa64ae24aa4eda"/>
    <p:sldId xmlns:r="http://schemas.openxmlformats.org/officeDocument/2006/relationships" id="261" r:id="Rad0d6319e3864074"/>
    <p:sldId xmlns:r="http://schemas.openxmlformats.org/officeDocument/2006/relationships" id="262" r:id="Rbf33a6bf8bfe44f1"/>
    <p:sldId xmlns:r="http://schemas.openxmlformats.org/officeDocument/2006/relationships" id="263" r:id="Rfef79e2853da43dc"/>
    <p:sldId xmlns:r="http://schemas.openxmlformats.org/officeDocument/2006/relationships" id="264" r:id="Ref8f5af2d2d94a23"/>
    <p:sldId xmlns:r="http://schemas.openxmlformats.org/officeDocument/2006/relationships" id="265" r:id="R42ad9814ffdd4bbc"/>
    <p:sldId xmlns:r="http://schemas.openxmlformats.org/officeDocument/2006/relationships" id="266" r:id="R2639b0ffcce342a4"/>
    <p:sldId xmlns:r="http://schemas.openxmlformats.org/officeDocument/2006/relationships" id="267" r:id="Rf105b49a04a0452e"/>
    <p:sldId xmlns:r="http://schemas.openxmlformats.org/officeDocument/2006/relationships" id="268" r:id="Reeae4f647d6b40f1"/>
    <p:sldId xmlns:r="http://schemas.openxmlformats.org/officeDocument/2006/relationships" id="269" r:id="Rabeb9981f06a4bf7"/>
    <p:sldId xmlns:r="http://schemas.openxmlformats.org/officeDocument/2006/relationships" id="270" r:id="R9180745a7c4e4c12"/>
    <p:sldId xmlns:r="http://schemas.openxmlformats.org/officeDocument/2006/relationships" id="271" r:id="R610702d5e71a4de5"/>
    <p:sldId xmlns:r="http://schemas.openxmlformats.org/officeDocument/2006/relationships" id="272" r:id="R91ab1c3213c34f3e"/>
    <p:sldId xmlns:r="http://schemas.openxmlformats.org/officeDocument/2006/relationships" id="273" r:id="R23b0a3c0d22a4b9b"/>
    <p:sldId xmlns:r="http://schemas.openxmlformats.org/officeDocument/2006/relationships" id="274" r:id="Rcbce5b86a9ae402a"/>
    <p:sldId xmlns:r="http://schemas.openxmlformats.org/officeDocument/2006/relationships" id="275" r:id="R86a495ff1a1c4681"/>
    <p:sldId xmlns:r="http://schemas.openxmlformats.org/officeDocument/2006/relationships" id="276" r:id="Re427aa8dd3b14355"/>
    <p:sldId xmlns:r="http://schemas.openxmlformats.org/officeDocument/2006/relationships" id="277" r:id="Rbc08545dd53a489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2cb87db76a4f58" /><Relationship Type="http://schemas.openxmlformats.org/officeDocument/2006/relationships/slideMaster" Target="/ppt/slideMasters/slideMaster1.xml" Id="R3979852973284fee" /><Relationship Type="http://schemas.openxmlformats.org/officeDocument/2006/relationships/notesMaster" Target="/ppt/notesMasters/notesMaster1.xml" Id="R476fb160b6b74f5b" /><Relationship Type="http://schemas.openxmlformats.org/officeDocument/2006/relationships/presProps" Target="/ppt/presProps.xml" Id="R9fd747f301bd48ec" /><Relationship Type="http://schemas.openxmlformats.org/officeDocument/2006/relationships/tableStyles" Target="/ppt/tableStyles.xml" Id="Ree65081793ec453f" /><Relationship Type="http://schemas.openxmlformats.org/officeDocument/2006/relationships/slide" Target="/ppt/slides/slide1.xml" Id="Rd7bb2f8fdebf4fa2" /><Relationship Type="http://schemas.openxmlformats.org/officeDocument/2006/relationships/slide" Target="/ppt/slides/slide2.xml" Id="R05daea6587e14b76" /><Relationship Type="http://schemas.openxmlformats.org/officeDocument/2006/relationships/slide" Target="/ppt/slides/slide3.xml" Id="R894d8470b7d247e8" /><Relationship Type="http://schemas.openxmlformats.org/officeDocument/2006/relationships/slide" Target="/ppt/slides/slide4.xml" Id="R6a00705050834807" /><Relationship Type="http://schemas.openxmlformats.org/officeDocument/2006/relationships/slide" Target="/ppt/slides/slide5.xml" Id="Rf7fa64ae24aa4eda" /><Relationship Type="http://schemas.openxmlformats.org/officeDocument/2006/relationships/slide" Target="/ppt/slides/slide6.xml" Id="Rad0d6319e3864074" /><Relationship Type="http://schemas.openxmlformats.org/officeDocument/2006/relationships/slide" Target="/ppt/slides/slide7.xml" Id="Rbf33a6bf8bfe44f1" /><Relationship Type="http://schemas.openxmlformats.org/officeDocument/2006/relationships/slide" Target="/ppt/slides/slide8.xml" Id="Rfef79e2853da43dc" /><Relationship Type="http://schemas.openxmlformats.org/officeDocument/2006/relationships/slide" Target="/ppt/slides/slide9.xml" Id="Ref8f5af2d2d94a23" /><Relationship Type="http://schemas.openxmlformats.org/officeDocument/2006/relationships/slide" Target="/ppt/slides/slide10.xml" Id="R42ad9814ffdd4bbc" /><Relationship Type="http://schemas.openxmlformats.org/officeDocument/2006/relationships/slide" Target="/ppt/slides/slide11.xml" Id="R2639b0ffcce342a4" /><Relationship Type="http://schemas.openxmlformats.org/officeDocument/2006/relationships/slide" Target="/ppt/slides/slide12.xml" Id="Rf105b49a04a0452e" /><Relationship Type="http://schemas.openxmlformats.org/officeDocument/2006/relationships/slide" Target="/ppt/slides/slide13.xml" Id="Reeae4f647d6b40f1" /><Relationship Type="http://schemas.openxmlformats.org/officeDocument/2006/relationships/slide" Target="/ppt/slides/slide14.xml" Id="Rabeb9981f06a4bf7" /><Relationship Type="http://schemas.openxmlformats.org/officeDocument/2006/relationships/slide" Target="/ppt/slides/slide15.xml" Id="R9180745a7c4e4c12" /><Relationship Type="http://schemas.openxmlformats.org/officeDocument/2006/relationships/slide" Target="/ppt/slides/slide16.xml" Id="R610702d5e71a4de5" /><Relationship Type="http://schemas.openxmlformats.org/officeDocument/2006/relationships/slide" Target="/ppt/slides/slide17.xml" Id="R91ab1c3213c34f3e" /><Relationship Type="http://schemas.openxmlformats.org/officeDocument/2006/relationships/slide" Target="/ppt/slides/slide18.xml" Id="R23b0a3c0d22a4b9b" /><Relationship Type="http://schemas.openxmlformats.org/officeDocument/2006/relationships/slide" Target="/ppt/slides/slide19.xml" Id="Rcbce5b86a9ae402a" /><Relationship Type="http://schemas.openxmlformats.org/officeDocument/2006/relationships/slide" Target="/ppt/slides/slide20.xml" Id="R86a495ff1a1c4681" /><Relationship Type="http://schemas.openxmlformats.org/officeDocument/2006/relationships/slide" Target="/ppt/slides/slide21.xml" Id="Re427aa8dd3b14355" /><Relationship Type="http://schemas.openxmlformats.org/officeDocument/2006/relationships/slide" Target="/ppt/slides/slide22.xml" Id="Rbc08545dd53a48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bfd8582a2a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ee868735a84bc8" /><Relationship Type="http://schemas.openxmlformats.org/officeDocument/2006/relationships/notesMaster" Target="/ppt/notesMasters/notesMaster1.xml" Id="Rf87aed0d31f648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25bbc7ece4d09" /><Relationship Type="http://schemas.openxmlformats.org/officeDocument/2006/relationships/notesMaster" Target="/ppt/notesMasters/notesMaster1.xml" Id="Rf685a5c76f84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e30a1870cf4c17" /><Relationship Type="http://schemas.openxmlformats.org/officeDocument/2006/relationships/notesMaster" Target="/ppt/notesMasters/notesMaster1.xml" Id="Rfd26ccb0837644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5547a3fdba4ad9" /><Relationship Type="http://schemas.openxmlformats.org/officeDocument/2006/relationships/notesMaster" Target="/ppt/notesMasters/notesMaster1.xml" Id="R5cf26450bd1541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c2fd1b87e4f2f" /><Relationship Type="http://schemas.openxmlformats.org/officeDocument/2006/relationships/notesMaster" Target="/ppt/notesMasters/notesMaster1.xml" Id="R75a5bc47f1ac4e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686d279aed4b3c" /><Relationship Type="http://schemas.openxmlformats.org/officeDocument/2006/relationships/notesMaster" Target="/ppt/notesMasters/notesMaster1.xml" Id="R063701d15c7d4c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16a8c96a0349d8" /><Relationship Type="http://schemas.openxmlformats.org/officeDocument/2006/relationships/notesMaster" Target="/ppt/notesMasters/notesMaster1.xml" Id="R36ced6ad254e4f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1d297d6457432b" /><Relationship Type="http://schemas.openxmlformats.org/officeDocument/2006/relationships/notesMaster" Target="/ppt/notesMasters/notesMaster1.xml" Id="Rf60217cdb3c04f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a0b11442a9494d" /><Relationship Type="http://schemas.openxmlformats.org/officeDocument/2006/relationships/notesMaster" Target="/ppt/notesMasters/notesMaster1.xml" Id="R78f2802bae6040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f1e82c5ce844ce" /><Relationship Type="http://schemas.openxmlformats.org/officeDocument/2006/relationships/notesMaster" Target="/ppt/notesMasters/notesMaster1.xml" Id="R4814a1939c2448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fc250916b0449b" /><Relationship Type="http://schemas.openxmlformats.org/officeDocument/2006/relationships/notesMaster" Target="/ppt/notesMasters/notesMaster1.xml" Id="Rf831d08cee8846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2084db003d4af7" /><Relationship Type="http://schemas.openxmlformats.org/officeDocument/2006/relationships/notesMaster" Target="/ppt/notesMasters/notesMaster1.xml" Id="R3e0d0083838346b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04784ba4454e2f" /><Relationship Type="http://schemas.openxmlformats.org/officeDocument/2006/relationships/notesMaster" Target="/ppt/notesMasters/notesMaster1.xml" Id="R09c8b91a1cf84a3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90d0b01a5af4405" /><Relationship Type="http://schemas.openxmlformats.org/officeDocument/2006/relationships/notesMaster" Target="/ppt/notesMasters/notesMaster1.xml" Id="R67d6ef410c104e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b0ccdbc47ce40e5" /><Relationship Type="http://schemas.openxmlformats.org/officeDocument/2006/relationships/notesMaster" Target="/ppt/notesMasters/notesMaster1.xml" Id="R353abd2ab83c4b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8adc965b6a846ae" /><Relationship Type="http://schemas.openxmlformats.org/officeDocument/2006/relationships/notesMaster" Target="/ppt/notesMasters/notesMaster1.xml" Id="R8e36169da7974f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439a62d9c24df7" /><Relationship Type="http://schemas.openxmlformats.org/officeDocument/2006/relationships/notesMaster" Target="/ppt/notesMasters/notesMaster1.xml" Id="R89d8fc83f00a44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4ac563f658e4ed9" /><Relationship Type="http://schemas.openxmlformats.org/officeDocument/2006/relationships/notesMaster" Target="/ppt/notesMasters/notesMaster1.xml" Id="R83e03ef4141f404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b28c567af8f4b58" /><Relationship Type="http://schemas.openxmlformats.org/officeDocument/2006/relationships/notesMaster" Target="/ppt/notesMasters/notesMaster1.xml" Id="Ra9d4fda5dbfa496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f16f0b60df44ad" /><Relationship Type="http://schemas.openxmlformats.org/officeDocument/2006/relationships/notesMaster" Target="/ppt/notesMasters/notesMaster1.xml" Id="R349aac5adc21463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dff8bc991242bf" /><Relationship Type="http://schemas.openxmlformats.org/officeDocument/2006/relationships/notesMaster" Target="/ppt/notesMasters/notesMaster1.xml" Id="R37ab58d8d5c1417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dcb9f6f896444d" /><Relationship Type="http://schemas.openxmlformats.org/officeDocument/2006/relationships/notesMaster" Target="/ppt/notesMasters/notesMaster1.xml" Id="R549ff3f3a1f442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L0 lesson card and course control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course control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L0 lesson card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course control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situation is explicitly fictional for teaching and is not learner testimony.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https://doi.org/10.54394/HETP0387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https://doi.org/10.1126/science.adh2586</a:t>
            </a:r>
          </a:p>
          <a:p xmlns:a="http://schemas.openxmlformats.org/drawingml/2006/main">
            <a:r>
              <a:t>- https://www.hbs.edu/faculty/Pages/item.aspx?num=68729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exercise from Start Card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sources: Soul A1, B1, C4.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Soul A1 canonical module.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Soul B1 canonical module.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Soul C4 canonical module.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L0 core concept.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Start Card v2 rubric.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Start Card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Start Card rubric v2. Target remains a live-trial hypothesis.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facilitation guide.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Start Card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course uses implementation-intention logic but does not claim guaranteed behavior change.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https://doi.org/10.1016/S0065-2601(06)38002-1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Targets are pre-registered course hypotheses; real classroom results are not yet available.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source: capability runbook v2.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Author sentence is pending confirmation and must not be presented as autobiographical fact.</a:t>
            </a:r>
          </a:p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e725c13c44c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d8d173b50b4d47" /><Relationship Type="http://schemas.openxmlformats.org/officeDocument/2006/relationships/slideLayout" Target="/ppt/slideLayouts/slideLayout1.xml" Id="R4d94d9f48fa740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94d9f48fa740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25197feb947ee" /><Relationship Type="http://schemas.openxmlformats.org/officeDocument/2006/relationships/notesSlide" Target="/ppt/notesSlides/notesSlide1.xml" Id="R79c02f5de93b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a6688b63445b6" /><Relationship Type="http://schemas.openxmlformats.org/officeDocument/2006/relationships/notesSlide" Target="/ppt/notesSlides/notesSlide2.xml" Id="Rf35bfac3d9bf4e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972933aa34688" /><Relationship Type="http://schemas.openxmlformats.org/officeDocument/2006/relationships/notesSlide" Target="/ppt/notesSlides/notesSlide3.xml" Id="Rfc3dceae47b74d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a668cfdbb4ac5" /><Relationship Type="http://schemas.openxmlformats.org/officeDocument/2006/relationships/notesSlide" Target="/ppt/notesSlides/notesSlide4.xml" Id="Rac19cb4224724e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7616a64624189" /><Relationship Type="http://schemas.openxmlformats.org/officeDocument/2006/relationships/notesSlide" Target="/ppt/notesSlides/notesSlide5.xml" Id="R3f0b7eec1a634f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7c2f0bd44489f" /><Relationship Type="http://schemas.openxmlformats.org/officeDocument/2006/relationships/notesSlide" Target="/ppt/notesSlides/notesSlide6.xml" Id="R4ee99dbe9208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90a0626b14732" /><Relationship Type="http://schemas.openxmlformats.org/officeDocument/2006/relationships/notesSlide" Target="/ppt/notesSlides/notesSlide7.xml" Id="R045f1adedde84d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e954604a34d8c" /><Relationship Type="http://schemas.openxmlformats.org/officeDocument/2006/relationships/notesSlide" Target="/ppt/notesSlides/notesSlide8.xml" Id="R869b74b9c08248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8171bab814934" /><Relationship Type="http://schemas.openxmlformats.org/officeDocument/2006/relationships/notesSlide" Target="/ppt/notesSlides/notesSlide9.xml" Id="R009056f7ef814a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93ee6e3ec4b1a" /><Relationship Type="http://schemas.openxmlformats.org/officeDocument/2006/relationships/notesSlide" Target="/ppt/notesSlides/notesSlide10.xml" Id="R16219b29fb3148c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d436c71a442b5" /><Relationship Type="http://schemas.openxmlformats.org/officeDocument/2006/relationships/notesSlide" Target="/ppt/notesSlides/notesSlide11.xml" Id="R2366db20d0c741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6f5ccd9ec4ece" /><Relationship Type="http://schemas.openxmlformats.org/officeDocument/2006/relationships/notesSlide" Target="/ppt/notesSlides/notesSlide12.xml" Id="Rc4cb3269131f45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150cfcf674c8d" /><Relationship Type="http://schemas.openxmlformats.org/officeDocument/2006/relationships/notesSlide" Target="/ppt/notesSlides/notesSlide13.xml" Id="R2cab24e4703e44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98ece14aa446a" /><Relationship Type="http://schemas.openxmlformats.org/officeDocument/2006/relationships/notesSlide" Target="/ppt/notesSlides/notesSlide14.xml" Id="Raaf1743dcdef4df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c9e77c4f84823" /><Relationship Type="http://schemas.openxmlformats.org/officeDocument/2006/relationships/notesSlide" Target="/ppt/notesSlides/notesSlide15.xml" Id="R5bfa880f2b1c4a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57ed9bdac4610" /><Relationship Type="http://schemas.openxmlformats.org/officeDocument/2006/relationships/notesSlide" Target="/ppt/notesSlides/notesSlide16.xml" Id="R99dfdddbbfd840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a5b2b52274609" /><Relationship Type="http://schemas.openxmlformats.org/officeDocument/2006/relationships/notesSlide" Target="/ppt/notesSlides/notesSlide17.xml" Id="Rc38dd2a3adaf46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db4c1ace34e8d" /><Relationship Type="http://schemas.openxmlformats.org/officeDocument/2006/relationships/notesSlide" Target="/ppt/notesSlides/notesSlide18.xml" Id="Rfe6d8eb132ea4c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de23273cb4879" /><Relationship Type="http://schemas.openxmlformats.org/officeDocument/2006/relationships/notesSlide" Target="/ppt/notesSlides/notesSlide19.xml" Id="R4e84acea895d495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8a7cc405246ce" /><Relationship Type="http://schemas.openxmlformats.org/officeDocument/2006/relationships/notesSlide" Target="/ppt/notesSlides/notesSlide20.xml" Id="R1c3c331c69e54d0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425f86bc54580" /><Relationship Type="http://schemas.openxmlformats.org/officeDocument/2006/relationships/notesSlide" Target="/ppt/notesSlides/notesSlide21.xml" Id="Rb3a5349b7d6641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05357609e458a" /><Relationship Type="http://schemas.openxmlformats.org/officeDocument/2006/relationships/notesSlide" Target="/ppt/notesSlides/notesSlide22.xml" Id="R4cd8f35603b444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EFD89-E5D1-447C-9CC5-F44350F8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5F0E4"/>
                </a:solidFill>
              </a:defRPr>
            </a:pPr>
            <a:r>
              <a:rPr sz="4500" b="1">
                <a:solidFill>
                  <a:srgbClr val="F5F0E4"/>
                </a:solidFill>
              </a:rPr>
              <a:t>原力战略起点诊断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AFEAF-D33B-4448-A049-D62C4265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B46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98D54A-3C87-4C55-B3B8-86962939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8B46C"/>
                </a:solidFill>
              </a:defRPr>
            </a:pPr>
            <a:r>
              <a:rPr sz="2250" b="0">
                <a:solidFill>
                  <a:srgbClr val="D8B46C"/>
                </a:solidFill>
              </a:rPr>
              <a:t>120 分钟找到未来 30 天主卡点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31124-B911-4A27-B27B-7FC45C3C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8–12 位专家型创业者 · 明哥主讲 · 付费诊断工作坊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EED93-CB99-4D61-8D4C-224F5876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0E4"/>
                </a:solidFill>
              </a:defRPr>
            </a:pPr>
            <a:r>
              <a:rPr sz="1650" b="1">
                <a:solidFill>
                  <a:srgbClr val="F5F0E4"/>
                </a:solidFill>
              </a:rPr>
              <a:t>唯一产物｜《原力战略起点卡 v2》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E5569-5FE0-43B2-9647-227E2B0C4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39115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live_trial_pending</a:t>
            </a:r>
          </a:p>
        </p:txBody>
      </p:sp>
    </p:spTree>
    <p:extLst>
      <p:ext uri="{BB962C8B-B14F-4D97-AF65-F5344CB8AC3E}">
        <p14:creationId xmlns:p14="http://schemas.microsoft.com/office/powerpoint/2010/main" val="12133806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407D5-2A4D-45A5-BA42-71D5A1A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唯一判断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2C1A8D-D45F-462F-811F-ACF0A46D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DB924-DAB3-48A5-947C-F7F2CB2E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32A50-E853-4781-AEA8-92AF2A55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81150"/>
            <a:ext cx="10134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5F0E4"/>
                </a:solidFill>
              </a:defRPr>
            </a:pPr>
            <a:r>
              <a:rPr sz="3900" b="1">
                <a:solidFill>
                  <a:srgbClr val="F5F0E4"/>
                </a:solidFill>
              </a:rPr>
              <a:t>不同时补齐 A / B /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D94F7-F575-4F63-8A56-AF5FA505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0134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8B46C"/>
                </a:solidFill>
              </a:defRPr>
            </a:pPr>
            <a:r>
              <a:rPr sz="3000" b="1">
                <a:solidFill>
                  <a:srgbClr val="D8B46C"/>
                </a:solidFill>
              </a:rPr>
              <a:t>先找到未来 30 天限制原力复利的主卡点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67459-6173-49A8-922F-F6EBAB2DB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1013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9CCBF"/>
                </a:solidFill>
              </a:defRPr>
            </a:pPr>
            <a:r>
              <a:rPr sz="1800" b="0">
                <a:solidFill>
                  <a:srgbClr val="B9CCBF"/>
                </a:solidFill>
              </a:rPr>
              <a:t>不是永久类型 · 只是 30 天行动排序</a:t>
            </a:r>
          </a:p>
        </p:txBody>
      </p:sp>
    </p:spTree>
    <p:extLst>
      <p:ext uri="{BB962C8B-B14F-4D97-AF65-F5344CB8AC3E}">
        <p14:creationId xmlns:p14="http://schemas.microsoft.com/office/powerpoint/2010/main" val="10906648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67C71-EF2C-4D42-A91E-33415756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学习承诺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07696-3230-4F6A-8EEC-5AC70471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191BF-9123-4093-861E-C136077A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C95639-B9F4-4079-B922-7B7A94A5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今天不讲完三部曲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A7DC6-06EE-4642-9924-519F9585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CCBF"/>
                </a:solidFill>
              </a:defRPr>
            </a:pPr>
            <a:r>
              <a:rPr sz="1650" b="0">
                <a:solidFill>
                  <a:srgbClr val="B9CCBF"/>
                </a:solidFill>
              </a:rPr>
              <a:t>一堂课只改变一个判断，只留下一个结果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8E092-B4E9-47D5-BAAE-947E82FD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321945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32D02-F99F-4FDC-961F-E49988640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52750"/>
            <a:ext cx="321945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DE1CD9-3E7D-4A81-BCAA-A96D1D06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52750"/>
            <a:ext cx="3219450" cy="2019300"/>
          </a:xfrm>
          <a:prstGeom xmlns:a="http://schemas.openxmlformats.org/drawingml/2006/main" prst="roundRect">
            <a:avLst>
              <a:gd name="adj" fmla="val 8491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8B2BD4-3B17-4AB9-B31B-4B9D227D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不做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2A008-7A95-40A6-AA02-7A1F30A3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33800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十二模块概览</a:t>
            </a:r>
          </a:p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三套压缩工具</a:t>
            </a:r>
          </a:p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永久人格标签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BD667-443C-4BE6-9B11-74B07021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257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只做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956EFF-95EE-4C75-A241-17E56629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33800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三面诊断镜</a:t>
            </a:r>
          </a:p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两条事实</a:t>
            </a:r>
          </a:p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一条反证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0151F-36AC-49EB-99E5-C61CE66E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带走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8BCAC-D1E5-4516-9110-C7450BF9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33800"/>
            <a:ext cx="2647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一个主卡点</a:t>
            </a:r>
          </a:p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一个 30 天行动</a:t>
            </a:r>
          </a:p>
          <a:p xmlns:a="http://schemas.openxmlformats.org/drawingml/2006/main">
            <a:pPr algn="l">
              <a:defRPr sz="1800" b="0">
                <a:solidFill>
                  <a:srgbClr val="F5F0E4"/>
                </a:solidFill>
              </a:defRPr>
            </a:pPr>
            <a:r>
              <a:rPr sz="1800" b="0">
                <a:solidFill>
                  <a:srgbClr val="F5F0E4"/>
                </a:solidFill>
              </a:rPr>
              <a:t>一张起点卡</a:t>
            </a:r>
          </a:p>
        </p:txBody>
      </p:sp>
    </p:spTree>
    <p:extLst>
      <p:ext uri="{BB962C8B-B14F-4D97-AF65-F5344CB8AC3E}">
        <p14:creationId xmlns:p14="http://schemas.microsoft.com/office/powerpoint/2010/main" val="1844732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AD7949-7422-4C9B-9D46-B2BA4E71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120 分钟地图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E0158-95A8-43D9-AF1A-FB2D5B39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BF47B-E82D-4129-A111-6E4963D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3F2E5-74AC-49BC-83B3-21115B5A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从处境，到证据，再到行动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D6C9D-DA0B-47B9-BBCC-45FF79B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0–20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9349A-0E1C-4C33-ADEB-6DC60E63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小切口 + AI 清算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FDB66E-7C00-4EF6-A668-190C842E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EF805-794E-4E3D-8834-1857024C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20–32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C10C3-9F3E-4F0E-9E07-E57B37D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起点自诊断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06B7F-A3C1-45FB-AE57-6ADDC314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75DEB1-48D4-4CED-8EDA-37258623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90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32–92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816413-BFFA-4AEE-8543-C55C6678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908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A / B / C 三面镜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97AFB-2CED-4CED-881B-C7C9CC68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57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E613B2-62EB-401B-A4E1-05C770E3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92–108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824D6-2F16-45C3-919D-26B87D2A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起点卡 v2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462A4F-5251-4DA8-88C3-0146D87F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6250B-9D9B-48D5-B323-71128356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19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108–116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3D824-24C4-46EA-9FE4-FD6C45AF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196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同伴互证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4E7AFC-2BD0-4879-90D2-D539419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863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994EE-81B6-42FF-A125-4D2ACC0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19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8B46C"/>
                </a:solidFill>
              </a:defRPr>
            </a:pPr>
            <a:r>
              <a:rPr sz="1500" b="1">
                <a:solidFill>
                  <a:srgbClr val="D8B46C"/>
                </a:solidFill>
              </a:rPr>
              <a:t>116–120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EDF84-193E-49E9-B7BE-9E02F518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七天迁移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0F736-C12E-4BE9-9D03-520972D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863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26633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87E45-87BC-4CF8-AAE6-299E8BFE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小切口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7C23E-0DF6-422E-89ED-01E47676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424FE-2A38-4E43-A0B8-D5989C0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EB01A-C7E9-45BC-A007-E2A734AD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5F0E4"/>
                </a:solidFill>
              </a:defRPr>
            </a:pPr>
            <a:r>
              <a:rPr sz="3450" b="1">
                <a:solidFill>
                  <a:srgbClr val="F5F0E4"/>
                </a:solidFill>
              </a:rPr>
              <a:t>三个方向都合理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DAC4C-4DE8-4D06-9AA5-DDD03AFD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8B46C"/>
                </a:solidFill>
              </a:defRPr>
            </a:pPr>
            <a:r>
              <a:rPr sz="3450" b="1">
                <a:solidFill>
                  <a:srgbClr val="D8B46C"/>
                </a:solidFill>
              </a:rPr>
              <a:t>才是最危险的时刻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427C2-04BD-4304-97F7-33AC60C3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04900"/>
            <a:ext cx="483870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123E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9E958-520D-4C49-A647-1B3A0451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09700"/>
            <a:ext cx="415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FB2A9"/>
                </a:solidFill>
              </a:defRPr>
            </a:pPr>
            <a:r>
              <a:rPr sz="1200" b="1">
                <a:solidFill>
                  <a:srgbClr val="9FB2A9"/>
                </a:solidFill>
              </a:rPr>
              <a:t>教学情境 · 非真实学员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3A58C-4E10-455E-9A41-E860F687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4152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品牌不清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产品没放大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团队与 AI 反复重启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39AEB-B90D-4030-999D-F1179F1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2850"/>
            <a:ext cx="4152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会议、内容、工具都增加了</a:t>
            </a:r>
          </a:p>
          <a:p xmlns:a="http://schemas.openxmlformats.org/drawingml/2006/main">
            <a:pPr algn="l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但没有一个可验收的战略结果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F917F-A976-4164-840E-3E84C47C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38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如果未来 30 天只能解除一个限制，解除哪一个会让另外两个更容易？</a:t>
            </a:r>
          </a:p>
        </p:txBody>
      </p:sp>
    </p:spTree>
    <p:extLst>
      <p:ext uri="{BB962C8B-B14F-4D97-AF65-F5344CB8AC3E}">
        <p14:creationId xmlns:p14="http://schemas.microsoft.com/office/powerpoint/2010/main" val="17155757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0D09C-310C-47CF-A4EC-4A8EC187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AI 清算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71CA2-4ED5-42B0-819D-CC34DC2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E70C9-667D-4A94-96A1-1495F078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58106-7890-4C00-A10D-0A6F5169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AI 暴露的是任务，不是整份职业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0AA9-75F9-4699-ADD7-C142F4F0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333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8B46C"/>
                </a:solidFill>
              </a:defRPr>
            </a:pPr>
            <a:r>
              <a:rPr sz="6900" b="1">
                <a:solidFill>
                  <a:srgbClr val="D8B46C"/>
                </a:solidFill>
              </a:rPr>
              <a:t>1 /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12344C-14B4-4DA9-89EF-38A674BB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24150"/>
            <a:ext cx="381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全球就业处于某种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GenAI 暴露梯度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583759-ED95-4283-8DCF-2BF6D23E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32194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7D9AC-EF31-43DE-BE46-26D7271A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5F0E4"/>
                </a:solidFill>
              </a:defRPr>
            </a:pPr>
            <a:r>
              <a:rPr sz="3750" b="1">
                <a:solidFill>
                  <a:srgbClr val="F5F0E4"/>
                </a:solidFill>
              </a:rPr>
              <a:t>3.3%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2D30B-F62B-4212-9B29-AFC8A5B0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6710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CBF"/>
                </a:solidFill>
              </a:defRPr>
            </a:pPr>
            <a:r>
              <a:rPr sz="1350" b="0">
                <a:solidFill>
                  <a:srgbClr val="B9CCBF"/>
                </a:solidFill>
              </a:rPr>
              <a:t>最高暴露梯度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71B8C-E271-462F-BE10-6E0533EC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0E4"/>
                </a:solidFill>
              </a:defRPr>
            </a:pPr>
            <a:r>
              <a:rPr sz="2100" b="1">
                <a:solidFill>
                  <a:srgbClr val="F5F0E4"/>
                </a:solidFill>
              </a:rPr>
              <a:t>暴露 ≠ 实际失业｜报告判断：工作转型更可能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99173-21F6-4502-B3DD-3F2B5829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CCBF"/>
                </a:solidFill>
              </a:defRPr>
            </a:pPr>
            <a:r>
              <a:rPr sz="1800" b="0">
                <a:solidFill>
                  <a:srgbClr val="B9CCBF"/>
                </a:solidFill>
              </a:rPr>
              <a:t>请把职业恐慌，拆成 3–5 项具体任务</a:t>
            </a:r>
          </a:p>
        </p:txBody>
      </p:sp>
    </p:spTree>
    <p:extLst>
      <p:ext uri="{BB962C8B-B14F-4D97-AF65-F5344CB8AC3E}">
        <p14:creationId xmlns:p14="http://schemas.microsoft.com/office/powerpoint/2010/main" val="57723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6E076-E722-4D77-B1C8-9740E808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锯齿状前沿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0D570-7016-4E80-B4D0-31431B3F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B1CF3-AFD8-43E1-A270-C6C13851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6F5C63-0BD7-4977-8CBF-7EC677C8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同样是 AI，有些任务变强，有些任务变差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8B7EA-F78F-4723-BA37-13C79F22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1054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F1000-CB3A-4F45-9D20-2D61275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5105400" cy="24003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B6605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91085-DD89-4E91-B92F-2E48F63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8B46C"/>
                </a:solidFill>
              </a:defRPr>
            </a:pPr>
            <a:r>
              <a:rPr sz="1950" b="1">
                <a:solidFill>
                  <a:srgbClr val="D8B46C"/>
                </a:solidFill>
              </a:rPr>
              <a:t>边界内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051E3-57DE-49B6-BE40-2E9D73B2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4419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5F0E4"/>
                </a:solidFill>
              </a:defRPr>
            </a:pPr>
            <a:r>
              <a:rPr sz="2400" b="1">
                <a:solidFill>
                  <a:srgbClr val="F5F0E4"/>
                </a:solidFill>
              </a:rPr>
              <a:t>写作实验</a:t>
            </a:r>
          </a:p>
          <a:p xmlns:a="http://schemas.openxmlformats.org/drawingml/2006/main">
            <a:pPr algn="l">
              <a:defRPr sz="2400" b="1">
                <a:solidFill>
                  <a:srgbClr val="F5F0E4"/>
                </a:solidFill>
              </a:defRPr>
            </a:pPr>
            <a:r>
              <a:rPr sz="2400" b="1">
                <a:solidFill>
                  <a:srgbClr val="F5F0E4"/>
                </a:solidFill>
              </a:rPr>
              <a:t>用时 −40%</a:t>
            </a:r>
          </a:p>
          <a:p xmlns:a="http://schemas.openxmlformats.org/drawingml/2006/main">
            <a:pPr algn="l">
              <a:defRPr sz="2400" b="1">
                <a:solidFill>
                  <a:srgbClr val="F5F0E4"/>
                </a:solidFill>
              </a:defRPr>
            </a:pPr>
            <a:r>
              <a:rPr sz="2400" b="1">
                <a:solidFill>
                  <a:srgbClr val="F5F0E4"/>
                </a:solidFill>
              </a:rPr>
              <a:t>质量 +18%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E961C-BD3F-4BD0-A2CF-7A4B2E1C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41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6050"/>
                </a:solidFill>
              </a:defRPr>
            </a:pPr>
            <a:r>
              <a:rPr sz="1950" b="1">
                <a:solidFill>
                  <a:srgbClr val="B66050"/>
                </a:solidFill>
              </a:rPr>
              <a:t>边界外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58FDF-238C-4B02-AD5E-162C0756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05200"/>
            <a:ext cx="4419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复杂任务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使用 AI 的参与者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更不容易答对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5A71B0-82B7-41A4-92F8-4FE75313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8B46C"/>
                </a:solidFill>
              </a:defRPr>
            </a:pPr>
            <a:r>
              <a:rPr sz="2100" b="1">
                <a:solidFill>
                  <a:srgbClr val="D8B46C"/>
                </a:solidFill>
              </a:rPr>
              <a:t>会不会用 AI，不如能不能判断边界</a:t>
            </a:r>
          </a:p>
        </p:txBody>
      </p:sp>
    </p:spTree>
    <p:extLst>
      <p:ext uri="{BB962C8B-B14F-4D97-AF65-F5344CB8AC3E}">
        <p14:creationId xmlns:p14="http://schemas.microsoft.com/office/powerpoint/2010/main" val="276929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F153B-180A-4C3E-901A-729912E1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现场练习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F2E823-B2EB-4A1F-B23A-A9BB19F6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9EFC0-6AEA-4B98-A50E-2477A973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897FA-03C4-4793-A221-21CD6365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被平权之后，你仍必须负责什么？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E8171-A243-4C16-9DB0-9886E13B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46C"/>
                </a:solidFill>
              </a:defRPr>
            </a:pPr>
            <a:r>
              <a:rPr sz="1650" b="1">
                <a:solidFill>
                  <a:srgbClr val="D8B46C"/>
                </a:solidFill>
              </a:rPr>
              <a:t>具体任务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74DDF-1758-4F83-8085-4F8E2C9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46C"/>
                </a:solidFill>
              </a:defRPr>
            </a:pPr>
            <a:r>
              <a:rPr sz="1650" b="1">
                <a:solidFill>
                  <a:srgbClr val="D8B46C"/>
                </a:solidFill>
              </a:rPr>
              <a:t>AI 已能做到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2C9F8-44CA-4101-85CD-DD2996E9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09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46C"/>
                </a:solidFill>
              </a:defRPr>
            </a:pPr>
            <a:r>
              <a:rPr sz="1650" b="1">
                <a:solidFill>
                  <a:srgbClr val="D8B46C"/>
                </a:solidFill>
              </a:rPr>
              <a:t>我仍负责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F3E90-D022-4B6E-9F7E-40478D32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95F48-5802-4AF1-A224-39F6954F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27F14E-2BA8-47EB-BE41-F73AE4CB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D399D-382F-4737-B652-B83E8F61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F4CFB-4DB3-4C06-8581-64131029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760E12-4ACE-413E-81E1-22921EF4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13BF05-6779-45FF-ABC5-E63B66C5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6735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判断 · 关系 · 责任</a:t>
            </a:r>
          </a:p>
        </p:txBody>
      </p:sp>
    </p:spTree>
    <p:extLst>
      <p:ext uri="{BB962C8B-B14F-4D97-AF65-F5344CB8AC3E}">
        <p14:creationId xmlns:p14="http://schemas.microsoft.com/office/powerpoint/2010/main" val="14494014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D6F10-6D68-4F50-A868-FC850FD9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三面诊断镜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81E76-A2DF-44B8-9A2A-5FE76A6B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C6E76-0651-4B13-884D-18B3A50F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CEEEF-5A8C-4400-B737-60F0E808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A / B / C，不是三种人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36676-3F17-48A5-A1D6-4C00C2D6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95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8B46C"/>
                </a:solidFill>
              </a:defRPr>
            </a:pPr>
            <a:r>
              <a:rPr sz="5400" b="1">
                <a:solidFill>
                  <a:srgbClr val="D8B46C"/>
                </a:solidFill>
              </a:rPr>
              <a:t>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5834F-A9CF-43BE-92A6-70E5BBE1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24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0E4"/>
                </a:solidFill>
              </a:defRPr>
            </a:pPr>
            <a:r>
              <a:rPr sz="2100" b="1">
                <a:solidFill>
                  <a:srgbClr val="F5F0E4"/>
                </a:solidFill>
              </a:rPr>
              <a:t>生成源头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D7309-30FE-4FCE-BFE0-97BFA742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我为什么持续生成这些不同？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D07FE-4235-4F53-AA24-CD4071A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09850"/>
            <a:ext cx="95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8B46C"/>
                </a:solidFill>
              </a:defRPr>
            </a:pPr>
            <a:r>
              <a:rPr sz="5400" b="1">
                <a:solidFill>
                  <a:srgbClr val="D8B46C"/>
                </a:solidFill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57D166-9E34-454A-B945-9EFF5DF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0E4"/>
                </a:solidFill>
              </a:defRPr>
            </a:pPr>
            <a:r>
              <a:rPr sz="2100" b="1">
                <a:solidFill>
                  <a:srgbClr val="F5F0E4"/>
                </a:solidFill>
              </a:rPr>
              <a:t>结构窗口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E83C4-337D-42BA-8FBA-4DE1AEF4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576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原力是否进入真实市场与放大器？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B0769D-87F3-4B63-AD07-95C1A38E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09850"/>
            <a:ext cx="95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D8B46C"/>
                </a:solidFill>
              </a:defRPr>
            </a:pPr>
            <a:r>
              <a:rPr sz="5400" b="1">
                <a:solidFill>
                  <a:srgbClr val="D8B46C"/>
                </a:solidFill>
              </a:rPr>
              <a:t>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45A81-C3B1-4E02-BEF7-DFE52B85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241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F0E4"/>
                </a:solidFill>
              </a:defRPr>
            </a:pPr>
            <a:r>
              <a:rPr sz="2100" b="1">
                <a:solidFill>
                  <a:srgbClr val="F5F0E4"/>
                </a:solidFill>
              </a:rPr>
              <a:t>复利链路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ECB8CC-4E29-45B7-88B0-B32CEF0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576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做完一次，下一次是否更容易？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31BDD-F735-40CC-9907-2B4D594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镜子只负责定位｜不负责把三个模块压缩讲完</a:t>
            </a:r>
          </a:p>
        </p:txBody>
      </p:sp>
    </p:spTree>
    <p:extLst>
      <p:ext uri="{BB962C8B-B14F-4D97-AF65-F5344CB8AC3E}">
        <p14:creationId xmlns:p14="http://schemas.microsoft.com/office/powerpoint/2010/main" val="13762621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8A8CA-BA76-4698-B6BF-AC301D95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A1 镜 · 生成源头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561B4-ADA8-4CA7-992B-519DA22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69E79F-C029-4B87-8568-92FAF1E3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5037-CD8E-495E-894B-9A2C402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不是我会什么，是我为什么持续生成这些不同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D67FC-ECE1-4696-8CE0-17F13ECB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FB2A9"/>
                </a:solidFill>
              </a:defRPr>
            </a:pPr>
            <a:r>
              <a:rPr sz="2250" b="1">
                <a:solidFill>
                  <a:srgbClr val="9FB2A9"/>
                </a:solidFill>
              </a:rPr>
              <a:t>技能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66783-B90F-4C8F-B6CB-0E99E3F0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FB2A9"/>
                </a:solidFill>
              </a:defRPr>
            </a:pPr>
            <a:r>
              <a:rPr sz="2250" b="1">
                <a:solidFill>
                  <a:srgbClr val="9FB2A9"/>
                </a:solidFill>
              </a:rPr>
              <a:t>职业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F32A3-781A-487C-9D62-7FA42898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FB2A9"/>
                </a:solidFill>
              </a:defRPr>
            </a:pPr>
            <a:r>
              <a:rPr sz="2250" b="1">
                <a:solidFill>
                  <a:srgbClr val="9FB2A9"/>
                </a:solidFill>
              </a:rPr>
              <a:t>人设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B80B0-F938-4D66-BAA6-4A332AF6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76500"/>
            <a:ext cx="0" cy="234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4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B9DFF-F270-4F23-A15C-F79C1EFB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4"/>
                </a:solidFill>
              </a:defRPr>
            </a:pPr>
            <a:r>
              <a:rPr sz="2550" b="1">
                <a:solidFill>
                  <a:srgbClr val="F5F0E4"/>
                </a:solidFill>
              </a:rPr>
              <a:t>过去十年，哪些不同成果</a:t>
            </a:r>
          </a:p>
          <a:p xmlns:a="http://schemas.openxmlformats.org/drawingml/2006/main">
            <a:pPr algn="l">
              <a:defRPr sz="2550" b="1">
                <a:solidFill>
                  <a:srgbClr val="F5F0E4"/>
                </a:solidFill>
              </a:defRPr>
            </a:pPr>
            <a:r>
              <a:rPr sz="2550" b="1">
                <a:solidFill>
                  <a:srgbClr val="F5F0E4"/>
                </a:solidFill>
              </a:rPr>
              <a:t>用了同一种判断？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2EE3A-7BA5-448B-A23B-50D36DA6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91000"/>
            <a:ext cx="685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B46C"/>
                </a:solidFill>
              </a:defRPr>
            </a:pPr>
            <a:r>
              <a:rPr sz="1875" b="0">
                <a:solidFill>
                  <a:srgbClr val="D8B46C"/>
                </a:solidFill>
              </a:rPr>
              <a:t>反证：什么会说明它只是漂亮人设？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3E026-5A11-47B5-BF43-977A66AB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今天不教完整 A1 工具</a:t>
            </a:r>
          </a:p>
        </p:txBody>
      </p:sp>
    </p:spTree>
    <p:extLst>
      <p:ext uri="{BB962C8B-B14F-4D97-AF65-F5344CB8AC3E}">
        <p14:creationId xmlns:p14="http://schemas.microsoft.com/office/powerpoint/2010/main" val="8792318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B744B-4C40-4FD8-AD2A-A14E1CE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B1 镜 · 结构窗口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6A2B60-86C6-40DF-9AB3-AD4DF95C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C597E-6DC5-4BAB-B909-2006C028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D4E56-3273-4746-9F03-CEA40E19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借势不是追热点，是原力与结构窗口匹配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E96BF-C9F2-46B4-87B5-0153A217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38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123E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AFE96-0873-4C4F-8F3B-409B0971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E7D45-47F3-4148-BD1C-6ADB57A0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32385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123E3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69DFF-D506-47F1-A7F7-75051627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0E4"/>
                </a:solidFill>
              </a:defRPr>
            </a:pPr>
            <a:r>
              <a:rPr sz="1950" b="1">
                <a:solidFill>
                  <a:srgbClr val="F5F0E4"/>
                </a:solidFill>
              </a:rPr>
              <a:t>我的源头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4CCDE9-090F-446B-9CD2-EBA49B61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3337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8B46C"/>
                </a:solidFill>
              </a:defRPr>
            </a:pPr>
            <a:r>
              <a:rPr sz="2700" b="1">
                <a:solidFill>
                  <a:srgbClr val="D8B46C"/>
                </a:solidFill>
              </a:rPr>
              <a:t>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AEC1E-830F-457A-997A-29468B4E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8B46C"/>
                </a:solidFill>
              </a:defRPr>
            </a:pPr>
            <a:r>
              <a:rPr sz="1950" b="1">
                <a:solidFill>
                  <a:srgbClr val="D8B46C"/>
                </a:solidFill>
              </a:rPr>
              <a:t>真实需求 / 窗口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CDFCC-A74C-443E-ABCE-C9D9219E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266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D8B46C"/>
                </a:solidFill>
              </a:defRPr>
            </a:pPr>
            <a:r>
              <a:rPr sz="2700" b="1">
                <a:solidFill>
                  <a:srgbClr val="D8B46C"/>
                </a:solidFill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DE3D57-26C8-4FC9-948E-C1CB2914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628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0E4"/>
                </a:solidFill>
              </a:defRPr>
            </a:pPr>
            <a:r>
              <a:rPr sz="1950" b="1">
                <a:solidFill>
                  <a:srgbClr val="F5F0E4"/>
                </a:solidFill>
              </a:rPr>
              <a:t>可进入位置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CCEE31-ECC8-4644-A257-F130CF76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F0E4"/>
                </a:solidFill>
              </a:defRPr>
            </a:pPr>
            <a:r>
              <a:rPr sz="1950" b="1">
                <a:solidFill>
                  <a:srgbClr val="F5F0E4"/>
                </a:solidFill>
              </a:rPr>
              <a:t>市场事实：付费 / 复购 / 转介绍 / 等待名单 / 交付效率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090F2-0A8D-4395-A74B-2681E2B3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今天不预测康波，不教完整四势模型</a:t>
            </a:r>
          </a:p>
        </p:txBody>
      </p:sp>
    </p:spTree>
    <p:extLst>
      <p:ext uri="{BB962C8B-B14F-4D97-AF65-F5344CB8AC3E}">
        <p14:creationId xmlns:p14="http://schemas.microsoft.com/office/powerpoint/2010/main" val="366882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0C5CC9-3B86-44E5-89A1-D4F0A0B7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C4 镜 · 复利链路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DCAD8-5DF9-4D3B-834A-FA06D31D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5AAD45-8225-4779-9E52-3BAC4469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8E13C-F279-40E2-A8A3-E3824339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任务完成，不等于系统完成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33E17-8209-48B0-86F7-8302ACA9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7526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123E3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168BF-3EC0-47E5-A08D-4D82185B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337AD-C468-40CF-9B44-639FAC6C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38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B46C"/>
                </a:solidFill>
              </a:defRPr>
            </a:pPr>
            <a:r>
              <a:rPr sz="2250" b="1">
                <a:solidFill>
                  <a:srgbClr val="D8B46C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61C27-C712-4B54-A0E4-8DE67A5B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52750"/>
            <a:ext cx="17526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123E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07933-847E-448B-9496-D6684065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38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80447D-AB2C-4000-96FF-525B3910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B46C"/>
                </a:solidFill>
              </a:defRPr>
            </a:pPr>
            <a:r>
              <a:rPr sz="2250" b="1">
                <a:solidFill>
                  <a:srgbClr val="D8B46C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4F876-3229-4544-B2BA-A880DEF5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52750"/>
            <a:ext cx="17526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8B46C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B3E1A-C052-4BBE-8F96-3BF4CA26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38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D24"/>
                </a:solidFill>
              </a:defRPr>
            </a:pPr>
            <a:r>
              <a:rPr sz="1800" b="1">
                <a:solidFill>
                  <a:srgbClr val="082D24"/>
                </a:solidFill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8FA26-7D83-48C6-81E1-F908430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38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B46C"/>
                </a:solidFill>
              </a:defRPr>
            </a:pPr>
            <a:r>
              <a:rPr sz="2250" b="1">
                <a:solidFill>
                  <a:srgbClr val="D8B46C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37A1B-B19D-4031-A0DE-934DCDF5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17526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123E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EF4DC-9E8B-4B41-8B0E-401C18BE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Writeback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1BB54-83E3-49B6-9AB2-781211FC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385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8B46C"/>
                </a:solidFill>
              </a:defRPr>
            </a:pPr>
            <a:r>
              <a:rPr sz="2250" b="1">
                <a:solidFill>
                  <a:srgbClr val="D8B46C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A40EE-5E17-4327-947E-54822BA6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7526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123E3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12A5F-37CC-4C99-8F4F-3509570E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38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Mirror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BC151-2198-4FAB-AC7D-DBCF5154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5F0E4"/>
                </a:solidFill>
              </a:defRPr>
            </a:pPr>
            <a:r>
              <a:rPr sz="2550" b="1">
                <a:solidFill>
                  <a:srgbClr val="F5F0E4"/>
                </a:solidFill>
              </a:rPr>
              <a:t>没有你的口头补充，别人能否继续？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5962DF-10A5-4967-8DA7-6E5B2E0F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今天不建设完整 OS</a:t>
            </a:r>
          </a:p>
        </p:txBody>
      </p:sp>
    </p:spTree>
    <p:extLst>
      <p:ext uri="{BB962C8B-B14F-4D97-AF65-F5344CB8AC3E}">
        <p14:creationId xmlns:p14="http://schemas.microsoft.com/office/powerpoint/2010/main" val="20499286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55E07-7C7C-4CD3-9099-E2261CB3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战略取舍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D933C8-6B0D-47E8-948C-E7DD94FD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6167FD-2BBE-41EA-A826-46EB6E91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C203EA-95B6-44CC-9592-EF9CA156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选择，不是给最低分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A442E-6CE8-4750-AFC4-A6964E6B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66050"/>
                </a:solidFill>
              </a:defRPr>
            </a:pPr>
            <a:r>
              <a:rPr sz="1650" b="1">
                <a:solidFill>
                  <a:srgbClr val="B66050"/>
                </a:solidFill>
              </a:rPr>
              <a:t>不是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D6362-36AD-4A5B-B7D3-0508B89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304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0E4"/>
                </a:solidFill>
              </a:defRPr>
            </a:pPr>
            <a:r>
              <a:rPr sz="2325" b="1">
                <a:solidFill>
                  <a:srgbClr val="F5F0E4"/>
                </a:solidFill>
              </a:rPr>
              <a:t>最焦虑的</a:t>
            </a:r>
          </a:p>
          <a:p xmlns:a="http://schemas.openxmlformats.org/drawingml/2006/main">
            <a:pPr algn="l">
              <a:defRPr sz="2325" b="1">
                <a:solidFill>
                  <a:srgbClr val="F5F0E4"/>
                </a:solidFill>
              </a:defRPr>
            </a:pPr>
            <a:r>
              <a:rPr sz="2325" b="1">
                <a:solidFill>
                  <a:srgbClr val="F5F0E4"/>
                </a:solidFill>
              </a:rPr>
              <a:t>最想学的</a:t>
            </a:r>
          </a:p>
          <a:p xmlns:a="http://schemas.openxmlformats.org/drawingml/2006/main">
            <a:pPr algn="l">
              <a:defRPr sz="2325" b="1">
                <a:solidFill>
                  <a:srgbClr val="F5F0E4"/>
                </a:solidFill>
              </a:defRPr>
            </a:pPr>
            <a:r>
              <a:rPr sz="2325" b="1">
                <a:solidFill>
                  <a:srgbClr val="F5F0E4"/>
                </a:solidFill>
              </a:rPr>
              <a:t>最容易做的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CFBC5-2EAA-4CAF-AF67-F45535F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76500"/>
            <a:ext cx="0" cy="2419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4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D7524-F5E0-4FBD-8DB0-AAC4FCF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479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8B46C"/>
                </a:solidFill>
              </a:defRPr>
            </a:pPr>
            <a:r>
              <a:rPr sz="1650" b="1">
                <a:solidFill>
                  <a:srgbClr val="D8B46C"/>
                </a:solidFill>
              </a:rPr>
              <a:t>而是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3A589-66E0-4F8F-879B-EB71A71F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81350"/>
            <a:ext cx="581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5F0E4"/>
                </a:solidFill>
              </a:defRPr>
            </a:pPr>
            <a:r>
              <a:rPr sz="3000" b="1">
                <a:solidFill>
                  <a:srgbClr val="F5F0E4"/>
                </a:solidFill>
              </a:rPr>
              <a:t>解除哪一个限制</a:t>
            </a:r>
          </a:p>
          <a:p xmlns:a="http://schemas.openxmlformats.org/drawingml/2006/main">
            <a:pPr algn="l">
              <a:defRPr sz="3000" b="1">
                <a:solidFill>
                  <a:srgbClr val="F5F0E4"/>
                </a:solidFill>
              </a:defRPr>
            </a:pPr>
            <a:r>
              <a:rPr sz="3000" b="1">
                <a:solidFill>
                  <a:srgbClr val="F5F0E4"/>
                </a:solidFill>
              </a:rPr>
              <a:t>会让另外两个更容易？</a:t>
            </a:r>
          </a:p>
        </p:txBody>
      </p:sp>
    </p:spTree>
    <p:extLst>
      <p:ext uri="{BB962C8B-B14F-4D97-AF65-F5344CB8AC3E}">
        <p14:creationId xmlns:p14="http://schemas.microsoft.com/office/powerpoint/2010/main" val="513745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0BCCB8-CEE0-467F-BDF4-61CC4F2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判断质量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C18E5-D76C-4E5F-BCD6-E9959367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51C91-1420-4467-88C9-BFFCDC96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F6591-6202-4127-8C96-C08F7D01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两条事实 · 一条反证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339BE-78F6-427A-9F19-253D8BA2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200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0F720-FFCE-476C-8703-408EEFCD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3200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A2446-AC60-4B63-8F89-6A3FDC7D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3200"/>
            <a:ext cx="3200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B6605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EAD7B-F4E4-4988-93B5-86D1AA33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46C"/>
                </a:solidFill>
              </a:defRPr>
            </a:pPr>
            <a:r>
              <a:rPr sz="1800" b="1">
                <a:solidFill>
                  <a:srgbClr val="D8B46C"/>
                </a:solidFill>
              </a:rPr>
              <a:t>事实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017A1-04A4-4B90-A633-82BDD365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0E4"/>
                </a:solidFill>
              </a:defRPr>
            </a:pPr>
            <a:r>
              <a:rPr sz="1875" b="0">
                <a:solidFill>
                  <a:srgbClr val="F5F0E4"/>
                </a:solidFill>
              </a:rPr>
              <a:t>别人能检查</a:t>
            </a:r>
          </a:p>
          <a:p xmlns:a="http://schemas.openxmlformats.org/drawingml/2006/main">
            <a:pPr algn="l">
              <a:defRPr sz="1875" b="0">
                <a:solidFill>
                  <a:srgbClr val="F5F0E4"/>
                </a:solidFill>
              </a:defRPr>
            </a:pPr>
            <a:r>
              <a:rPr sz="1875" b="0">
                <a:solidFill>
                  <a:srgbClr val="F5F0E4"/>
                </a:solidFill>
              </a:rPr>
              <a:t>来自真实事业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087AB-AC03-47A1-A2E6-52FFDDB6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46C"/>
                </a:solidFill>
              </a:defRPr>
            </a:pPr>
            <a:r>
              <a:rPr sz="1800" b="1">
                <a:solidFill>
                  <a:srgbClr val="D8B46C"/>
                </a:solidFill>
              </a:rPr>
              <a:t>事实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003DE-6F0F-47D1-8B2B-87E38EF1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147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0E4"/>
                </a:solidFill>
              </a:defRPr>
            </a:pPr>
            <a:r>
              <a:rPr sz="1875" b="0">
                <a:solidFill>
                  <a:srgbClr val="F5F0E4"/>
                </a:solidFill>
              </a:rPr>
              <a:t>与诊断镜对应</a:t>
            </a:r>
          </a:p>
          <a:p xmlns:a="http://schemas.openxmlformats.org/drawingml/2006/main">
            <a:pPr algn="l">
              <a:defRPr sz="1875" b="0">
                <a:solidFill>
                  <a:srgbClr val="F5F0E4"/>
                </a:solidFill>
              </a:defRPr>
            </a:pPr>
            <a:r>
              <a:rPr sz="1875" b="0">
                <a:solidFill>
                  <a:srgbClr val="F5F0E4"/>
                </a:solidFill>
              </a:rPr>
              <a:t>不是情绪标签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36A89-08D0-4C4A-845D-C91D2AE4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2590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66050"/>
                </a:solidFill>
              </a:defRPr>
            </a:pPr>
            <a:r>
              <a:rPr sz="1800" b="1">
                <a:solidFill>
                  <a:srgbClr val="B66050"/>
                </a:solidFill>
              </a:rPr>
              <a:t>反证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33108-0597-474E-9ECA-B4390AA9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2590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0E4"/>
                </a:solidFill>
              </a:defRPr>
            </a:pPr>
            <a:r>
              <a:rPr sz="1875" b="0">
                <a:solidFill>
                  <a:srgbClr val="F5F0E4"/>
                </a:solidFill>
              </a:rPr>
              <a:t>发生什么</a:t>
            </a:r>
          </a:p>
          <a:p xmlns:a="http://schemas.openxmlformats.org/drawingml/2006/main">
            <a:pPr algn="l">
              <a:defRPr sz="1875" b="0">
                <a:solidFill>
                  <a:srgbClr val="F5F0E4"/>
                </a:solidFill>
              </a:defRPr>
            </a:pPr>
            <a:r>
              <a:rPr sz="1875" b="0">
                <a:solidFill>
                  <a:srgbClr val="F5F0E4"/>
                </a:solidFill>
              </a:rPr>
              <a:t>我愿意改判断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10205-90B1-44CB-A7C3-03FD2B51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8B46C"/>
                </a:solidFill>
              </a:defRPr>
            </a:pPr>
            <a:r>
              <a:rPr sz="2100" b="1">
                <a:solidFill>
                  <a:srgbClr val="D8B46C"/>
                </a:solidFill>
              </a:rPr>
              <a:t>没有反证的判断，只是更坚固的自我解释</a:t>
            </a:r>
          </a:p>
        </p:txBody>
      </p:sp>
    </p:spTree>
    <p:extLst>
      <p:ext uri="{BB962C8B-B14F-4D97-AF65-F5344CB8AC3E}">
        <p14:creationId xmlns:p14="http://schemas.microsoft.com/office/powerpoint/2010/main" val="154403569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5E1569-E49D-4AAB-A7B9-9475E29B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唯一产物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E98550-F024-4189-B6F8-3BAB4B7E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D2920-1C6A-4C1C-A478-D76F8C06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954C4-BD35-4553-BA80-6FEB645C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《原力战略起点卡 v2》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E53D8-E685-4FBD-8150-EFD7DA97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B46C"/>
                </a:solidFill>
              </a:defRPr>
            </a:pPr>
            <a:r>
              <a:rPr sz="1350" b="0">
                <a:solidFill>
                  <a:srgbClr val="D8B46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F0AA20-BEEA-4A0F-BF9B-B8D3C2BF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AI 清算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EC5EAE-818C-4D3D-94CC-80665873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3–5 项被平权任务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B5EA2-C3EA-4055-9BD5-5618F98D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4F5F5-301C-4374-95F3-5AD3FCD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B46C"/>
                </a:solidFill>
              </a:defRPr>
            </a:pPr>
            <a:r>
              <a:rPr sz="1350" b="0">
                <a:solidFill>
                  <a:srgbClr val="D8B46C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DAD9A-FEDA-4291-BE29-8D52686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242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三面镜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2CA885-9FCA-4615-88AE-E3626BB2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242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A / B / C 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6F95F-9C7D-4568-B51B-9F780996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FA31F-3682-4046-B5A4-1BE7A815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B46C"/>
                </a:solidFill>
              </a:defRPr>
            </a:pPr>
            <a:r>
              <a:rPr sz="1350" b="0">
                <a:solidFill>
                  <a:srgbClr val="D8B46C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89AC1-BBFF-490F-AFED-3CDCE9CD7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主卡点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1C76B-3BA1-4FBD-B115-F51951DF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只选一个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9182F-FA10-4717-8B8A-9DEC5269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F1BEE-EEC0-4D68-B9D3-4C18284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B46C"/>
                </a:solidFill>
              </a:defRPr>
            </a:pPr>
            <a:r>
              <a:rPr sz="1350" b="0">
                <a:solidFill>
                  <a:srgbClr val="D8B46C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71066-0A87-4439-A738-B0F92BD7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19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30 天行动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D7C9FD-2AA1-46C8-8341-150BD00C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196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截止 + 输出 + 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AA989-C750-43AE-B2E5-F65D1BB8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506B5-9188-44EE-8241-DD2D24BC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B46C"/>
                </a:solidFill>
              </a:defRPr>
            </a:pPr>
            <a:r>
              <a:rPr sz="1350" b="0">
                <a:solidFill>
                  <a:srgbClr val="D8B46C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63EC4E-FFCF-4DA6-A3AA-E1EB711A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67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0E4"/>
                </a:solidFill>
              </a:defRPr>
            </a:pPr>
            <a:r>
              <a:rPr sz="1800" b="1">
                <a:solidFill>
                  <a:srgbClr val="F5F0E4"/>
                </a:solidFill>
              </a:rPr>
              <a:t>七天迁移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0CBC92-93F1-4CCD-8B36-8FB7C41E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9CCBF"/>
                </a:solidFill>
              </a:defRPr>
            </a:pPr>
            <a:r>
              <a:rPr sz="1725" b="0">
                <a:solidFill>
                  <a:srgbClr val="B9CCBF"/>
                </a:solidFill>
              </a:rPr>
              <a:t>支持 / 削弱 / 推翻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EDEF90-647C-4A58-811A-C9E20EC2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60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7F9B2-4D35-40B8-98ED-B83B05E8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6388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一个文件 · 一个判断 · 一个行动</a:t>
            </a:r>
          </a:p>
        </p:txBody>
      </p:sp>
    </p:spTree>
    <p:extLst>
      <p:ext uri="{BB962C8B-B14F-4D97-AF65-F5344CB8AC3E}">
        <p14:creationId xmlns:p14="http://schemas.microsoft.com/office/powerpoint/2010/main" val="316601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3C9C5-8F0C-4050-BB1C-DEAB4F4E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10 分评分尺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2B7C1-B295-41AD-8B8B-00A7D52C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22B5B-1BDA-4D50-9BFE-2AD4F266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A3EFF-A683-4B1B-ABD6-99C005FC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8 / 10，才进入 30 天承诺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1584D-D31D-4AFC-8D72-F1691AF0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4"/>
                </a:solidFill>
              </a:defRPr>
            </a:pPr>
            <a:r>
              <a:rPr sz="1725" b="1">
                <a:solidFill>
                  <a:srgbClr val="F5F0E4"/>
                </a:solidFill>
              </a:rPr>
              <a:t>主卡点唯一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76CF7-9AE9-4C2E-AC87-1A93D283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23E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15ACB-A6A4-40B0-B30E-A1406AA7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D8B4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4B26FD-EC89-4646-B003-52987D4D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146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0 / 1 /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FD031-F6A0-42E9-92C1-D43F4E14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4"/>
                </a:solidFill>
              </a:defRPr>
            </a:pPr>
            <a:r>
              <a:rPr sz="1725" b="1">
                <a:solidFill>
                  <a:srgbClr val="F5F0E4"/>
                </a:solidFill>
              </a:rPr>
              <a:t>两条事实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D9537-7B87-4F07-B5D9-F4D983CA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23E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798FF-243A-4B9C-AE5F-144FAC32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D8B46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FD49B-3C13-476A-B37E-01FCA707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242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0 / 1 /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DC14A-A012-4344-A108-C9F57CE8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4"/>
                </a:solidFill>
              </a:defRPr>
            </a:pPr>
            <a:r>
              <a:rPr sz="1725" b="1">
                <a:solidFill>
                  <a:srgbClr val="F5F0E4"/>
                </a:solidFill>
              </a:rPr>
              <a:t>概念使用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1E0BB-E8A9-4B8C-BB8C-7EFF85C9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23E3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AF4BF7-977F-4301-9EFD-37B9A167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D8B46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A7D7B-F1B5-4A67-9238-ABF9FFB0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0 / 1 /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1CB386-2443-4459-8DE8-D10C031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4"/>
                </a:solidFill>
              </a:defRPr>
            </a:pPr>
            <a:r>
              <a:rPr sz="1725" b="1">
                <a:solidFill>
                  <a:srgbClr val="F5F0E4"/>
                </a:solidFill>
              </a:rPr>
              <a:t>反证信号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5C58CC-A57C-4D2D-B4B8-8F886203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14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23E3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7CEFE-4AAA-4B00-9778-91592C90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5148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D8B46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7C03B0-2C42-45B0-924A-87C72C62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0 / 1 /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00C416-D9DA-40FB-BFCE-F43E04F5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F0E4"/>
                </a:solidFill>
              </a:defRPr>
            </a:pPr>
            <a:r>
              <a:rPr sz="1725" b="1">
                <a:solidFill>
                  <a:srgbClr val="F5F0E4"/>
                </a:solidFill>
              </a:rPr>
              <a:t>30 天行动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ED8515-8F2A-4F16-B3B9-36198925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123E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ECFC89-A2B4-45F4-98C3-C58E94B0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2445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D8B46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D1EB54-609F-4504-A699-3BCBCCC3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5300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B9CCBF"/>
                </a:solidFill>
              </a:defRPr>
            </a:pPr>
            <a:r>
              <a:rPr sz="1500" b="0">
                <a:solidFill>
                  <a:srgbClr val="B9CCBF"/>
                </a:solidFill>
              </a:rPr>
              <a:t>0 / 1 /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8F6D00-CFA5-48DA-BA98-4AB2D2BD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8B46C"/>
                </a:solidFill>
              </a:defRPr>
            </a:pPr>
            <a:r>
              <a:rPr sz="1800" b="1">
                <a:solidFill>
                  <a:srgbClr val="D8B46C"/>
                </a:solidFill>
              </a:rPr>
              <a:t>目标：至少 70% 学员达到 8 / 10</a:t>
            </a:r>
          </a:p>
        </p:txBody>
      </p:sp>
    </p:spTree>
    <p:extLst>
      <p:ext uri="{BB962C8B-B14F-4D97-AF65-F5344CB8AC3E}">
        <p14:creationId xmlns:p14="http://schemas.microsoft.com/office/powerpoint/2010/main" val="6012143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0CD35-F1AB-4A90-87EB-A24DED7C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同伴互证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88D27-EAA7-44BC-8067-20236B83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1A0E5-83DF-484F-9404-43EE95B6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DA939-E848-4329-A205-765F0919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四分钟，只问三句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BEA5E-4DC2-432F-8D20-5D703E653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46C"/>
                </a:solidFill>
              </a:defRPr>
            </a:pPr>
            <a:r>
              <a:rPr sz="1800" b="1">
                <a:solidFill>
                  <a:srgbClr val="D8B46C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1BED8-7864-4DCD-A2C4-DDCA57F7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0E4"/>
                </a:solidFill>
              </a:defRPr>
            </a:pPr>
            <a:r>
              <a:rPr sz="2325" b="1">
                <a:solidFill>
                  <a:srgbClr val="F5F0E4"/>
                </a:solidFill>
              </a:rPr>
              <a:t>哪一条是事实，哪一条仍是解释？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F182D-4FD5-42EC-A20E-5A447A17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46C"/>
                </a:solidFill>
              </a:defRPr>
            </a:pPr>
            <a:r>
              <a:rPr sz="1800" b="1">
                <a:solidFill>
                  <a:srgbClr val="D8B46C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A36F03-9897-4D08-8BA6-8DCEDA81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433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0E4"/>
                </a:solidFill>
              </a:defRPr>
            </a:pPr>
            <a:r>
              <a:rPr sz="2325" b="1">
                <a:solidFill>
                  <a:srgbClr val="F5F0E4"/>
                </a:solidFill>
              </a:rPr>
              <a:t>你是否偷偷保留了第二、第三个主卡点？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E26BE-1273-4DAC-8226-A309E97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8B46C"/>
                </a:solidFill>
              </a:defRPr>
            </a:pPr>
            <a:r>
              <a:rPr sz="1800" b="1">
                <a:solidFill>
                  <a:srgbClr val="D8B46C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6EC63-EA65-407C-9D9C-94339B6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F0E4"/>
                </a:solidFill>
              </a:defRPr>
            </a:pPr>
            <a:r>
              <a:rPr sz="2325" b="1">
                <a:solidFill>
                  <a:srgbClr val="F5F0E4"/>
                </a:solidFill>
              </a:rPr>
              <a:t>七天后，我能看到什么证据？</a:t>
            </a:r>
          </a:p>
        </p:txBody>
      </p:sp>
    </p:spTree>
    <p:extLst>
      <p:ext uri="{BB962C8B-B14F-4D97-AF65-F5344CB8AC3E}">
        <p14:creationId xmlns:p14="http://schemas.microsoft.com/office/powerpoint/2010/main" val="21312610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65AB2-601A-4BD0-A40B-E5C37C34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30 天行动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46FA9-11A1-42CA-A390-456144C9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AC1650-9C14-493E-AD7B-9FFD4162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6F792-6050-4C53-8ABF-E6DD2503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删除计划里的“以及”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421AB-4916-41A1-9361-71AE289E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013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F0E4"/>
                </a:solidFill>
              </a:defRPr>
            </a:pPr>
            <a:r>
              <a:rPr sz="2550" b="1">
                <a:solidFill>
                  <a:srgbClr val="F5F0E4"/>
                </a:solidFill>
              </a:rPr>
              <a:t>在 ____ 之前，我只完成：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83C21-D581-4F5F-99CC-25962F95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46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23361-099A-4771-AE8E-1723FE6C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29050"/>
            <a:ext cx="10134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9CCBF"/>
                </a:solidFill>
              </a:defRPr>
            </a:pPr>
            <a:r>
              <a:rPr sz="2025" b="0">
                <a:solidFill>
                  <a:srgbClr val="B9CCBF"/>
                </a:solidFill>
              </a:rPr>
              <a:t>完成证据是：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023C60-E3A7-4C8E-ADC1-DAB966E5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577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23E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67736-C8AC-4BF8-B193-F7B1FDBE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53000"/>
            <a:ext cx="1013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8B46C"/>
                </a:solidFill>
              </a:defRPr>
            </a:pPr>
            <a:r>
              <a:rPr sz="2100" b="1">
                <a:solidFill>
                  <a:srgbClr val="D8B46C"/>
                </a:solidFill>
              </a:rPr>
              <a:t>如果 ______ 发生，我将修改当前判断。</a:t>
            </a:r>
          </a:p>
        </p:txBody>
      </p:sp>
    </p:spTree>
    <p:extLst>
      <p:ext uri="{BB962C8B-B14F-4D97-AF65-F5344CB8AC3E}">
        <p14:creationId xmlns:p14="http://schemas.microsoft.com/office/powerpoint/2010/main" val="20350695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DBB80-A459-458D-BEF1-554EDD7E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七天迁移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98065-C22B-4EC6-BCE8-7EBD2B72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46747-E50C-48CC-AB87-BF852AEF5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287EC-421F-46FA-A65B-3FD2A23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证据只有三种作用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A6C60-765A-44D8-8D59-34CC473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D8B46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2A041-2A95-417C-AAB9-1936BDC3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D8B46C"/>
                </a:solidFill>
              </a:defRPr>
            </a:pPr>
            <a:r>
              <a:rPr sz="3300" b="1">
                <a:solidFill>
                  <a:srgbClr val="D8B46C"/>
                </a:solidFill>
              </a:rPr>
              <a:t>支持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FA640-B733-452F-8238-C2FFDA5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5F0E4"/>
                </a:solidFill>
              </a:defRPr>
            </a:pPr>
            <a:r>
              <a:rPr sz="1350" b="0">
                <a:solidFill>
                  <a:srgbClr val="F5F0E4"/>
                </a:solidFill>
              </a:rPr>
              <a:t>当前主卡点判断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E8D895-DE07-4AD1-87A3-1303DFB2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57500"/>
            <a:ext cx="31432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B9CCB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AEBF3-CDE3-442E-95C4-5A0E244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004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9CCBF"/>
                </a:solidFill>
              </a:defRPr>
            </a:pPr>
            <a:r>
              <a:rPr sz="3300" b="1">
                <a:solidFill>
                  <a:srgbClr val="B9CCBF"/>
                </a:solidFill>
              </a:rPr>
              <a:t>削弱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5595D-29BB-49F0-92FB-FE3A70D7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67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5F0E4"/>
                </a:solidFill>
              </a:defRPr>
            </a:pPr>
            <a:r>
              <a:rPr sz="1350" b="0">
                <a:solidFill>
                  <a:srgbClr val="F5F0E4"/>
                </a:solidFill>
              </a:rPr>
              <a:t>当前主卡点判断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ED684-62D7-4768-BE52-B573F989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57500"/>
            <a:ext cx="3143250" cy="1562100"/>
          </a:xfrm>
          <a:prstGeom xmlns:a="http://schemas.openxmlformats.org/drawingml/2006/main" prst="roundRect">
            <a:avLst>
              <a:gd name="adj" fmla="val 10976"/>
            </a:avLst>
          </a:prstGeom>
          <a:solidFill xmlns:a="http://schemas.openxmlformats.org/drawingml/2006/main">
            <a:srgbClr val="123E34"/>
          </a:solidFill>
          <a:ln xmlns:a="http://schemas.openxmlformats.org/drawingml/2006/main" w="11906">
            <a:solidFill>
              <a:srgbClr val="B6605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F2B64-5243-46E2-A293-ED3CF44B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66050"/>
                </a:solidFill>
              </a:defRPr>
            </a:pPr>
            <a:r>
              <a:rPr sz="3300" b="1">
                <a:solidFill>
                  <a:srgbClr val="B66050"/>
                </a:solidFill>
              </a:rPr>
              <a:t>推翻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6DB2C1-006E-46A4-886D-5731916C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671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5F0E4"/>
                </a:solidFill>
              </a:defRPr>
            </a:pPr>
            <a:r>
              <a:rPr sz="1350" b="0">
                <a:solidFill>
                  <a:srgbClr val="F5F0E4"/>
                </a:solidFill>
              </a:rPr>
              <a:t>当前主卡点判断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9BB1C-0C1D-4CE7-9A23-7ECB8072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0E4"/>
                </a:solidFill>
              </a:defRPr>
            </a:pPr>
            <a:r>
              <a:rPr sz="2100" b="1">
                <a:solidFill>
                  <a:srgbClr val="F5F0E4"/>
                </a:solidFill>
              </a:rPr>
              <a:t>推翻不是失败｜没有行动证据，才无法学习</a:t>
            </a:r>
          </a:p>
        </p:txBody>
      </p:sp>
    </p:spTree>
    <p:extLst>
      <p:ext uri="{BB962C8B-B14F-4D97-AF65-F5344CB8AC3E}">
        <p14:creationId xmlns:p14="http://schemas.microsoft.com/office/powerpoint/2010/main" val="20073353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E631E-C1EB-478F-8328-467DC2B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真实试讲门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FD825C-76B1-46B8-BFA0-6520B5C7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9A66D-A8C3-4E09-85FB-C9B07625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604E2-8D55-4C34-A44D-1F11AFB4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没有真实课堂，不升级状态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CC93EC-5BC3-469D-BF23-8E6A92DA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8B46C"/>
                </a:solidFill>
              </a:defRPr>
            </a:pPr>
            <a:r>
              <a:rPr sz="4350" b="1">
                <a:solidFill>
                  <a:srgbClr val="D8B46C"/>
                </a:solidFill>
              </a:rPr>
              <a:t>80%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DFC71A-688E-498D-AEF8-CF2A3376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4"/>
                </a:solidFill>
              </a:defRPr>
            </a:pPr>
            <a:r>
              <a:rPr sz="1650" b="1">
                <a:solidFill>
                  <a:srgbClr val="F5F0E4"/>
                </a:solidFill>
              </a:rPr>
              <a:t>用两条事实说明主卡点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C9BB9-BA0D-49A7-961C-5D0A3E75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194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8B46C"/>
                </a:solidFill>
              </a:defRPr>
            </a:pPr>
            <a:r>
              <a:rPr sz="4350" b="1">
                <a:solidFill>
                  <a:srgbClr val="D8B46C"/>
                </a:solidFill>
              </a:rPr>
              <a:t>70%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0E7A2-BA50-43F6-9E9F-B44F0B6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4"/>
                </a:solidFill>
              </a:defRPr>
            </a:pPr>
            <a:r>
              <a:rPr sz="1650" b="1">
                <a:solidFill>
                  <a:srgbClr val="F5F0E4"/>
                </a:solidFill>
              </a:rPr>
              <a:t>起点卡达到 8 /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8A49C-C2FC-4E3A-A482-259ACA338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194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8B46C"/>
                </a:solidFill>
              </a:defRPr>
            </a:pPr>
            <a:r>
              <a:rPr sz="4350" b="1">
                <a:solidFill>
                  <a:srgbClr val="D8B46C"/>
                </a:solidFill>
              </a:rPr>
              <a:t>50%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BFB53C-0DA6-4BBE-8187-88D208FE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147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4"/>
                </a:solidFill>
              </a:defRPr>
            </a:pPr>
            <a:r>
              <a:rPr sz="1650" b="1">
                <a:solidFill>
                  <a:srgbClr val="F5F0E4"/>
                </a:solidFill>
              </a:rPr>
              <a:t>七天回传有效行动证据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6F0FA-D08A-4707-9B74-5FDF605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两班 · 每班 8–12 人 · 分别验收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587DF-DAA4-45BA-B08E-B596B300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当前：live_trial_pending</a:t>
            </a:r>
          </a:p>
        </p:txBody>
      </p:sp>
    </p:spTree>
    <p:extLst>
      <p:ext uri="{BB962C8B-B14F-4D97-AF65-F5344CB8AC3E}">
        <p14:creationId xmlns:p14="http://schemas.microsoft.com/office/powerpoint/2010/main" val="14473271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60886F-3645-49B9-8F4B-CEB8C122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B46C"/>
                </a:solidFill>
              </a:defRPr>
            </a:pPr>
            <a:r>
              <a:rPr sz="1200" b="1">
                <a:solidFill>
                  <a:srgbClr val="D8B46C"/>
                </a:solidFill>
              </a:rPr>
              <a:t>人类友好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10C07-5362-4B78-A39D-FBE391FE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9FB2A9"/>
                </a:solidFill>
              </a:defRPr>
            </a:pPr>
            <a:r>
              <a:rPr sz="1200" b="0">
                <a:solidFill>
                  <a:srgbClr val="9FB2A9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9E3E9-3A16-4394-A078-DE33AFFF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23E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D7E0F-DB3C-47BC-B9B8-3CF2520B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5F0E4"/>
                </a:solidFill>
              </a:defRPr>
            </a:pPr>
            <a:r>
              <a:rPr sz="3150" b="1">
                <a:solidFill>
                  <a:srgbClr val="F5F0E4"/>
                </a:solidFill>
              </a:rPr>
              <a:t>只把真正需要裁决的事交给人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3BA5FD-6C07-488F-8E27-521C15AE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B46C"/>
                </a:solidFill>
              </a:defRPr>
            </a:pPr>
            <a:r>
              <a:rPr sz="1875" b="1">
                <a:solidFill>
                  <a:srgbClr val="D8B46C"/>
                </a:solidFill>
              </a:rPr>
              <a:t>明哥确认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701CE-1B89-41AF-9D2F-838F7386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作者经历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正典升级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定价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正式发布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A862F-FE23-4D46-9D33-71C9E1EC0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0" cy="2705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46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ED9D7-A6FE-4DD1-AADD-F75DDCA5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B46C"/>
                </a:solidFill>
              </a:defRPr>
            </a:pPr>
            <a:r>
              <a:rPr sz="1875" b="1">
                <a:solidFill>
                  <a:srgbClr val="D8B46C"/>
                </a:solidFill>
              </a:rPr>
              <a:t>逐项人工门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2BD1AE-0475-4549-84D9-BFCAB2F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录制 / 转写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分享 / 通知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支付</a:t>
            </a:r>
          </a:p>
          <a:p xmlns:a="http://schemas.openxmlformats.org/drawingml/2006/main">
            <a:pPr algn="l">
              <a:defRPr sz="2250" b="1">
                <a:solidFill>
                  <a:srgbClr val="F5F0E4"/>
                </a:solidFill>
              </a:defRPr>
            </a:pPr>
            <a:r>
              <a:rPr sz="2250" b="1">
                <a:solidFill>
                  <a:srgbClr val="F5F0E4"/>
                </a:solidFill>
              </a:rPr>
              <a:t>删除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BC72EA-9DE3-4DB2-AC5E-AE79941B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9CCBF"/>
                </a:solidFill>
              </a:defRPr>
            </a:pPr>
            <a:r>
              <a:rPr sz="1800" b="0">
                <a:solidFill>
                  <a:srgbClr val="B9CCBF"/>
                </a:solidFill>
              </a:rPr>
              <a:t>一个确认，不自动授权另一个动作</a:t>
            </a:r>
          </a:p>
        </p:txBody>
      </p:sp>
    </p:spTree>
    <p:extLst>
      <p:ext uri="{BB962C8B-B14F-4D97-AF65-F5344CB8AC3E}">
        <p14:creationId xmlns:p14="http://schemas.microsoft.com/office/powerpoint/2010/main" val="18778932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82D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4BF63-1422-41FE-BE1B-E0753DC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1013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5F0E4"/>
                </a:solidFill>
              </a:defRPr>
            </a:pPr>
            <a:r>
              <a:rPr sz="3900" b="1">
                <a:solidFill>
                  <a:srgbClr val="F5F0E4"/>
                </a:solidFill>
              </a:rPr>
              <a:t>先解除最限制复利的一处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5DB38-572D-426E-816D-9A7905AF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10134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D8B46C"/>
                </a:solidFill>
              </a:defRPr>
            </a:pPr>
            <a:r>
              <a:rPr sz="3900" b="1">
                <a:solidFill>
                  <a:srgbClr val="D8B46C"/>
                </a:solidFill>
              </a:rPr>
              <a:t>才有资格谈全局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E6226-CE78-4F28-A680-9995662A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1013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FB2A9"/>
                </a:solidFill>
              </a:defRPr>
            </a:pPr>
            <a:r>
              <a:rPr sz="1350" b="0">
                <a:solidFill>
                  <a:srgbClr val="9FB2A9"/>
                </a:solidFill>
              </a:rPr>
              <a:t>价值命题草案 · 待明哥确认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FBA6C-0301-4D66-88F2-D408210B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91050"/>
            <a:ext cx="243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B46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1FFFF2-1E95-4A84-A452-2CC863FC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1013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5F0E4"/>
                </a:solidFill>
              </a:defRPr>
            </a:pPr>
            <a:r>
              <a:rPr sz="1950" b="1">
                <a:solidFill>
                  <a:srgbClr val="F5F0E4"/>
                </a:solidFill>
              </a:rPr>
              <a:t>《原力战略起点卡 v2》</a:t>
            </a:r>
          </a:p>
        </p:txBody>
      </p:sp>
    </p:spTree>
    <p:extLst>
      <p:ext uri="{BB962C8B-B14F-4D97-AF65-F5344CB8AC3E}">
        <p14:creationId xmlns:p14="http://schemas.microsoft.com/office/powerpoint/2010/main" val="461142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2026-07-28T11:04:41.2280000Z</dcterms:created>
  <dcterms:modified xsi:type="dcterms:W3CDTF">2026-07-28T11:04:41.2280000Z</dcterms:modified>
</coreProperties>
</file>